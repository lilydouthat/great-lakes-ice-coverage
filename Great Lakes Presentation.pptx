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6cc833b6e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6cc833b6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6cc833b6e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6cc833b6e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cc833b6e_1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6cc833b6e_1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6cc833b6e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6cc833b6e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f929c34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ef929c34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ef929c3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ef929c3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6cc833b6e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6cc833b6e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6cc833b6e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6cc833b6e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ef929c3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ef929c3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6cc833b6e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e6cc833b6e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6cc833b6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6cc833b6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6cc833b6e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6cc833b6e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f929c34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ef929c34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ef929c34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ef929c34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f929c34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ef929c34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6cc833b6e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6cc833b6e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f929c34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ef929c34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ed" type="title">
  <p:cSld name="TITLE">
    <p:bg>
      <p:bgPr>
        <a:solidFill>
          <a:srgbClr val="C4123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8325" y="280250"/>
            <a:ext cx="2270744" cy="19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525350" y="2517875"/>
            <a:ext cx="7956900" cy="1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25350" y="1996775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Imag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25" y="280250"/>
            <a:ext cx="2270744" cy="192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525350" y="2517875"/>
            <a:ext cx="7956900" cy="1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525350" y="1996775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Red" type="secHead">
  <p:cSld name="SECTION_HEADER">
    <p:bg>
      <p:bgPr>
        <a:solidFill>
          <a:srgbClr val="C41230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525350" y="931937"/>
            <a:ext cx="7956900" cy="18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525350" y="2764327"/>
            <a:ext cx="8244900" cy="42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-25" y="-8400"/>
            <a:ext cx="236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 rot="5400000">
            <a:off x="4454525" y="452250"/>
            <a:ext cx="236700" cy="914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45687" y="3548550"/>
            <a:ext cx="1599474" cy="13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- Tan">
  <p:cSld name="SECTION_HEADER_1">
    <p:bg>
      <p:bgPr>
        <a:solidFill>
          <a:srgbClr val="EDECE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ctrTitle"/>
          </p:nvPr>
        </p:nvSpPr>
        <p:spPr>
          <a:xfrm>
            <a:off x="525350" y="931937"/>
            <a:ext cx="7956900" cy="18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None/>
              <a:defRPr sz="45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525350" y="2664112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2200">
                <a:solidFill>
                  <a:srgbClr val="000000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-25" y="-8400"/>
            <a:ext cx="2367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 rot="5400000">
            <a:off x="4454525" y="452250"/>
            <a:ext cx="236700" cy="914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45687" y="3548550"/>
            <a:ext cx="1599474" cy="135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 1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Tan 1">
  <p:cSld name="TITLE_AND_BODY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7"/>
          <p:cNvSpPr txBox="1"/>
          <p:nvPr>
            <p:ph idx="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ed 2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Tan 2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Red 1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48324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50" name="Google Shape;50;p10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Tan 1">
  <p:cSld name="TITLE_AND_TWO_COLUMNS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4832400" y="1578420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58" name="Google Shape;58;p11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Red 2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48324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65" name="Google Shape;65;p12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Tan 1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2" type="body"/>
          </p:nvPr>
        </p:nvSpPr>
        <p:spPr>
          <a:xfrm>
            <a:off x="4832400" y="1578425"/>
            <a:ext cx="3999900" cy="322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9pPr>
          </a:lstStyle>
          <a:p/>
        </p:txBody>
      </p:sp>
      <p:sp>
        <p:nvSpPr>
          <p:cNvPr id="72" name="Google Shape;72;p13"/>
          <p:cNvSpPr txBox="1"/>
          <p:nvPr>
            <p:ph idx="3" type="title"/>
          </p:nvPr>
        </p:nvSpPr>
        <p:spPr>
          <a:xfrm>
            <a:off x="355525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4" type="title"/>
          </p:nvPr>
        </p:nvSpPr>
        <p:spPr>
          <a:xfrm>
            <a:off x="4832400" y="1158725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Red 1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Tan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Red 2">
  <p:cSld name="TITLE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Tan 2">
  <p:cSld name="TITLE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None/>
              <a:defRPr>
                <a:solidFill>
                  <a:srgbClr val="00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ype 1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265500" y="1996850"/>
            <a:ext cx="3712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4926800" y="641200"/>
            <a:ext cx="39057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ype 2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DEC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265500" y="1996850"/>
            <a:ext cx="37128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4926800" y="641200"/>
            <a:ext cx="39057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7" name="Google Shape;97;p19"/>
          <p:cNvSpPr txBox="1"/>
          <p:nvPr>
            <p:ph idx="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000000"/>
                </a:solidFill>
              </a:defRPr>
            </a:lvl1pPr>
            <a:lvl2pPr lvl="1" rtl="0">
              <a:buNone/>
              <a:defRPr>
                <a:solidFill>
                  <a:srgbClr val="000000"/>
                </a:solidFill>
              </a:defRPr>
            </a:lvl2pPr>
            <a:lvl3pPr lvl="2" rtl="0">
              <a:buNone/>
              <a:defRPr>
                <a:solidFill>
                  <a:srgbClr val="000000"/>
                </a:solidFill>
              </a:defRPr>
            </a:lvl3pPr>
            <a:lvl4pPr lvl="3" rtl="0">
              <a:buNone/>
              <a:defRPr>
                <a:solidFill>
                  <a:srgbClr val="000000"/>
                </a:solidFill>
              </a:defRPr>
            </a:lvl4pPr>
            <a:lvl5pPr lvl="4" rtl="0">
              <a:buNone/>
              <a:defRPr>
                <a:solidFill>
                  <a:srgbClr val="000000"/>
                </a:solidFill>
              </a:defRPr>
            </a:lvl5pPr>
            <a:lvl6pPr lvl="5" rtl="0">
              <a:buNone/>
              <a:defRPr>
                <a:solidFill>
                  <a:srgbClr val="000000"/>
                </a:solidFill>
              </a:defRPr>
            </a:lvl6pPr>
            <a:lvl7pPr lvl="6" rtl="0">
              <a:buNone/>
              <a:defRPr>
                <a:solidFill>
                  <a:srgbClr val="000000"/>
                </a:solidFill>
              </a:defRPr>
            </a:lvl7pPr>
            <a:lvl8pPr lvl="7" rtl="0">
              <a:buNone/>
              <a:defRPr>
                <a:solidFill>
                  <a:srgbClr val="000000"/>
                </a:solidFill>
              </a:defRPr>
            </a:lvl8pPr>
            <a:lvl9pPr lvl="8" rtl="0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SECTION_TITLE_AND_DESCRI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90250" y="723398"/>
            <a:ext cx="6367800" cy="31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90250" y="3939423"/>
            <a:ext cx="3956100" cy="3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None/>
              <a:defRPr sz="1800">
                <a:solidFill>
                  <a:srgbClr val="C4123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APTION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472450" y="4805549"/>
            <a:ext cx="548700" cy="32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1230"/>
              </a:buClr>
              <a:buSzPts val="1400"/>
              <a:buChar char="○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525350" y="2517875"/>
            <a:ext cx="7956900" cy="1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Long-Term Trends in Great Lakes Ice Coverage </a:t>
            </a:r>
            <a:endParaRPr/>
          </a:p>
        </p:txBody>
      </p:sp>
      <p:sp>
        <p:nvSpPr>
          <p:cNvPr id="109" name="Google Shape;109;p22"/>
          <p:cNvSpPr txBox="1"/>
          <p:nvPr>
            <p:ph idx="1" type="subTitle"/>
          </p:nvPr>
        </p:nvSpPr>
        <p:spPr>
          <a:xfrm>
            <a:off x="525350" y="1996775"/>
            <a:ext cx="8244900" cy="52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Brandon, Anton, and Lily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Great Lakes ice coverage significantly changed over time?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Which aggregation metric best captures trend?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Mean annual ice coverage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Maximum annual ice coverage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Area Under Curve (AUC)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year-to-year dependence affect conclusions?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Context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Ice decline may serve as a regional signal of climate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Impacts ecosystems and regional economies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Sensitive climate indicator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100" y="2483275"/>
            <a:ext cx="2488850" cy="216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variables: Date/Season, Year, Percent Ice Coverage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Calculated variables: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Annual Mean Ice Coverage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Annual Maximum Ice Coverage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Annual Area Under the Curve (AUC)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Challenges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29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Handling missing values (2 types)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Some years (especially early ones) first measurement is high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If first observation greater than 5 we calculated average change in ice </a:t>
            </a:r>
            <a:r>
              <a:rPr lang="en"/>
              <a:t>coverage</a:t>
            </a:r>
            <a:r>
              <a:rPr lang="en"/>
              <a:t> over first 10 days and </a:t>
            </a:r>
            <a:r>
              <a:rPr lang="en"/>
              <a:t>imputed</a:t>
            </a:r>
            <a:r>
              <a:rPr lang="en"/>
              <a:t> previous values by subtracting that change until we get to zero or fill in 10 days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Assume other NAs are 0% ice coverage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295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Ice Coverage in both Magnitude and Duration seems to be generally decreasing over time</a:t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9402" y="1152475"/>
            <a:ext cx="5841901" cy="3609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Yearly Ice Coverage Aggregation Metrics 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Area Under Curve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Capture both Magnitude and Duration of Ice Coverage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Often used in similar situations in pharmacokinetics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Mean Ice Coverage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Simple and easy to understand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May miss duration effect (ie short severely cold winter might have same mean ice coverage as long moderately cold winter)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Max Ice Coverage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Simple and easiest to understand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65875" y="41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AUC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359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Weak linear decreasing trend in AUC over time</a:t>
            </a:r>
            <a:endParaRPr/>
          </a:p>
        </p:txBody>
      </p:sp>
      <p:pic>
        <p:nvPicPr>
          <p:cNvPr id="154" name="Google Shape;154;p29" title="AUC_vs_Year.png"/>
          <p:cNvPicPr preferRelativeResize="0"/>
          <p:nvPr/>
        </p:nvPicPr>
        <p:blipFill rotWithShape="1">
          <a:blip r:embed="rId3">
            <a:alphaModFix/>
          </a:blip>
          <a:srcRect b="0" l="1000" r="1000" t="0"/>
          <a:stretch/>
        </p:blipFill>
        <p:spPr>
          <a:xfrm>
            <a:off x="4405500" y="607663"/>
            <a:ext cx="4480973" cy="457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Mean Ice Coverage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389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W</a:t>
            </a:r>
            <a:r>
              <a:rPr lang="en"/>
              <a:t>eak linear decreasing trend in Mean Ice Coverage over time</a:t>
            </a:r>
            <a:endParaRPr/>
          </a:p>
        </p:txBody>
      </p:sp>
      <p:pic>
        <p:nvPicPr>
          <p:cNvPr id="161" name="Google Shape;161;p30" title="Mean_Vs_Year.png"/>
          <p:cNvPicPr preferRelativeResize="0"/>
          <p:nvPr/>
        </p:nvPicPr>
        <p:blipFill rotWithShape="1">
          <a:blip r:embed="rId3">
            <a:alphaModFix/>
          </a:blip>
          <a:srcRect b="-806" l="0" r="0" t="0"/>
          <a:stretch/>
        </p:blipFill>
        <p:spPr>
          <a:xfrm>
            <a:off x="4841975" y="1008950"/>
            <a:ext cx="4067599" cy="410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Max Ice Coverage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4429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Very w</a:t>
            </a:r>
            <a:r>
              <a:rPr lang="en"/>
              <a:t>eak decreasing trend in Max Ice Coverage over time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Max Ice Coverage not the best aggregation method anyway since it only uses measurement from 1 (possibly extreme) day</a:t>
            </a:r>
            <a:endParaRPr/>
          </a:p>
        </p:txBody>
      </p:sp>
      <p:pic>
        <p:nvPicPr>
          <p:cNvPr id="168" name="Google Shape;168;p31" title="Max_vs_Ye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550" y="1152475"/>
            <a:ext cx="3829750" cy="382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Correlation of variables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235025" y="1152475"/>
            <a:ext cx="3447600" cy="38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AUC was initially </a:t>
            </a:r>
            <a:r>
              <a:rPr lang="en" sz="2000"/>
              <a:t>preferred</a:t>
            </a:r>
            <a:r>
              <a:rPr lang="en" sz="2000"/>
              <a:t> since it captures duration of ice as well as magnitude.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Since Mean and AUC are strongly correlated (0.9505), Mean might be </a:t>
            </a:r>
            <a:r>
              <a:rPr lang="en" sz="2000"/>
              <a:t>just</a:t>
            </a:r>
            <a:r>
              <a:rPr lang="en" sz="2000"/>
              <a:t> as good as AUC. </a:t>
            </a:r>
            <a:endParaRPr sz="2000"/>
          </a:p>
        </p:txBody>
      </p:sp>
      <p:pic>
        <p:nvPicPr>
          <p:cNvPr id="175" name="Google Shape;1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9580" y="1152475"/>
            <a:ext cx="5238500" cy="323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AutoCorrelation Check (</a:t>
            </a:r>
            <a:r>
              <a:rPr lang="en"/>
              <a:t>Previous Year’s effect)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152475"/>
            <a:ext cx="3834000" cy="39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Observations are not independent (violates Linear Regression Assumptions)</a:t>
            </a:r>
            <a:endParaRPr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Lags were studied, </a:t>
            </a:r>
            <a:r>
              <a:rPr lang="en"/>
              <a:t>Ice Coverage of a year correlated with the Ice Coverage of previous year (for both AUC and Mean)</a:t>
            </a:r>
            <a:endParaRPr/>
          </a:p>
        </p:txBody>
      </p:sp>
      <p:pic>
        <p:nvPicPr>
          <p:cNvPr id="182" name="Google Shape;182;p33" title="Screenshot 2026-05-06 2229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3550" y="1008950"/>
            <a:ext cx="3485401" cy="217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3" title="Screenshot 2026-05-06 2229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3550" y="2922475"/>
            <a:ext cx="3485399" cy="216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Regression Analysis</a:t>
            </a:r>
            <a:endParaRPr/>
          </a:p>
        </p:txBody>
      </p:sp>
      <p:sp>
        <p:nvSpPr>
          <p:cNvPr id="189" name="Google Shape;18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highlight>
                  <a:schemeClr val="lt1"/>
                </a:highlight>
              </a:rPr>
              <a:t>Two Proposed Models</a:t>
            </a:r>
            <a:endParaRPr b="1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Mean ~ Year + Avg_prev</a:t>
            </a:r>
            <a:endParaRPr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AUC ~ Year + AUC_pre</a:t>
            </a:r>
            <a:endParaRPr>
              <a:highlight>
                <a:schemeClr val="lt1"/>
              </a:highlight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Observation from previous year (1 lag) included as a predictor to account for its effect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Can’t compare models with typical metrics (R</a:t>
            </a:r>
            <a:r>
              <a:rPr baseline="30000" lang="en"/>
              <a:t>2</a:t>
            </a:r>
            <a:r>
              <a:rPr lang="en"/>
              <a:t> etc) since they have different response variables</a:t>
            </a:r>
            <a:r>
              <a:rPr baseline="30000" lang="en"/>
              <a:t>  </a:t>
            </a:r>
            <a:endParaRPr baseline="30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5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Standardized Regression</a:t>
            </a:r>
            <a:endParaRPr/>
          </a:p>
        </p:txBody>
      </p:sp>
      <p:sp>
        <p:nvSpPr>
          <p:cNvPr id="195" name="Google Shape;19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To compare models with different responses we scale both the X’s and Y’s to a Mean 0, Var 1, and then refit models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“New” coefficients called Beta Weights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How many standard deviations Y changes with one standard deviation change in X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Can </a:t>
            </a:r>
            <a:r>
              <a:rPr lang="en"/>
              <a:t>compare</a:t>
            </a:r>
            <a:r>
              <a:rPr lang="en"/>
              <a:t> to see which response X is a stronger predictor of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Standardized Regression Results</a:t>
            </a:r>
            <a:endParaRPr/>
          </a:p>
        </p:txBody>
      </p:sp>
      <p:sp>
        <p:nvSpPr>
          <p:cNvPr id="201" name="Google Shape;201;p36"/>
          <p:cNvSpPr txBox="1"/>
          <p:nvPr>
            <p:ph idx="1" type="body"/>
          </p:nvPr>
        </p:nvSpPr>
        <p:spPr>
          <a:xfrm>
            <a:off x="311700" y="1152475"/>
            <a:ext cx="8520600" cy="38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Model with mean has larger (in magnitude) than model </a:t>
            </a:r>
            <a:r>
              <a:rPr lang="en"/>
              <a:t>with</a:t>
            </a:r>
            <a:r>
              <a:rPr lang="en"/>
              <a:t> AUC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Y</a:t>
            </a:r>
            <a:r>
              <a:rPr lang="en"/>
              <a:t>ear has a more pronounced effect on Mean so we will use the AUC model to be more conservative</a:t>
            </a:r>
            <a:endParaRPr/>
          </a:p>
        </p:txBody>
      </p:sp>
      <p:pic>
        <p:nvPicPr>
          <p:cNvPr id="202" name="Google Shape;202;p36" title="Screenshot 2026-05-06 2249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95225"/>
            <a:ext cx="4260300" cy="235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 title="Screenshot 2026-05-06 2249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95225"/>
            <a:ext cx="4194801" cy="217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214100" y="1152475"/>
            <a:ext cx="371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Year significant predictor of Ice Coverage AUC (p=0.00988)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On average Ice Coverage AUC decreases by 45.49 per year holding previous Ice Coverage AUC Constant</a:t>
            </a:r>
            <a:endParaRPr/>
          </a:p>
        </p:txBody>
      </p:sp>
      <p:pic>
        <p:nvPicPr>
          <p:cNvPr id="210" name="Google Shape;210;p37" title="Screenshot 2026-05-07 113211.png"/>
          <p:cNvPicPr preferRelativeResize="0"/>
          <p:nvPr/>
        </p:nvPicPr>
        <p:blipFill rotWithShape="1">
          <a:blip r:embed="rId3">
            <a:alphaModFix/>
          </a:blip>
          <a:srcRect b="0" l="1569" r="1569" t="0"/>
          <a:stretch/>
        </p:blipFill>
        <p:spPr>
          <a:xfrm>
            <a:off x="4084452" y="1113100"/>
            <a:ext cx="4918975" cy="310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>
            <p:ph type="title"/>
          </p:nvPr>
        </p:nvSpPr>
        <p:spPr>
          <a:xfrm>
            <a:off x="311700" y="428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Returning to Research Questions</a:t>
            </a:r>
            <a:endParaRPr/>
          </a:p>
        </p:txBody>
      </p:sp>
      <p:sp>
        <p:nvSpPr>
          <p:cNvPr id="216" name="Google Shape;216;p38"/>
          <p:cNvSpPr txBox="1"/>
          <p:nvPr>
            <p:ph idx="1" type="body"/>
          </p:nvPr>
        </p:nvSpPr>
        <p:spPr>
          <a:xfrm>
            <a:off x="311700" y="1152475"/>
            <a:ext cx="8520600" cy="3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Great Lakes Ice Coverage has significant decreasing trend over time (AUC </a:t>
            </a:r>
            <a:r>
              <a:rPr lang="en"/>
              <a:t>decreases</a:t>
            </a:r>
            <a:r>
              <a:rPr lang="en"/>
              <a:t> by </a:t>
            </a:r>
            <a:r>
              <a:rPr lang="en"/>
              <a:t>45.49 </a:t>
            </a:r>
            <a:r>
              <a:rPr lang="en"/>
              <a:t>per year on average)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Aggregating data with Mean and AUC both captured this trend 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Used AUC which had a weaker trend to be </a:t>
            </a:r>
            <a:r>
              <a:rPr lang="en"/>
              <a:t>more</a:t>
            </a:r>
            <a:r>
              <a:rPr lang="en"/>
              <a:t> conservative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Ice Coverage of Previous Year has an effect on the Ice Coverage of a Year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Handled this by adding 1 lag to regression model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9"/>
          <p:cNvSpPr txBox="1"/>
          <p:nvPr>
            <p:ph type="title"/>
          </p:nvPr>
        </p:nvSpPr>
        <p:spPr>
          <a:xfrm>
            <a:off x="311700" y="436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22" name="Google Shape;222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Relatively small period of time (1973-2025)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Unusual weather events likely impacted Ice Coverage some years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2014 Polar Vortex, 1977 &amp; 1978 </a:t>
            </a:r>
            <a:r>
              <a:rPr lang="en"/>
              <a:t>Blizzards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ami University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EEEEEE"/>
      </a:lt2>
      <a:accent1>
        <a:srgbClr val="C41230"/>
      </a:accent1>
      <a:accent2>
        <a:srgbClr val="AD102A"/>
      </a:accent2>
      <a:accent3>
        <a:srgbClr val="CCC9B8"/>
      </a:accent3>
      <a:accent4>
        <a:srgbClr val="EDECE2"/>
      </a:accent4>
      <a:accent5>
        <a:srgbClr val="EFDB72"/>
      </a:accent5>
      <a:accent6>
        <a:srgbClr val="00000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